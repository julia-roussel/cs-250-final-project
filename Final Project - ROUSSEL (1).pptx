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Hoves Bold" charset="1" panose="02000003020000060003"/>
      <p:regular r:id="rId16"/>
    </p:embeddedFont>
    <p:embeddedFont>
      <p:font typeface="TT Hoves" charset="1" panose="020000030200000600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B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719291" y="2910532"/>
            <a:ext cx="4434749" cy="5075536"/>
          </a:xfrm>
          <a:custGeom>
            <a:avLst/>
            <a:gdLst/>
            <a:ahLst/>
            <a:cxnLst/>
            <a:rect r="r" b="b" t="t" l="l"/>
            <a:pathLst>
              <a:path h="5075536" w="4434749">
                <a:moveTo>
                  <a:pt x="0" y="0"/>
                </a:moveTo>
                <a:lnTo>
                  <a:pt x="4434749" y="0"/>
                </a:lnTo>
                <a:lnTo>
                  <a:pt x="4434749" y="5075536"/>
                </a:lnTo>
                <a:lnTo>
                  <a:pt x="0" y="507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6540945"/>
            <a:ext cx="1671594" cy="0"/>
          </a:xfrm>
          <a:prstGeom prst="line">
            <a:avLst/>
          </a:prstGeom>
          <a:ln cap="flat" w="38100">
            <a:solidFill>
              <a:srgbClr val="172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5544734" y="7516754"/>
            <a:ext cx="1714566" cy="769996"/>
          </a:xfrm>
          <a:custGeom>
            <a:avLst/>
            <a:gdLst/>
            <a:ahLst/>
            <a:cxnLst/>
            <a:rect r="r" b="b" t="t" l="l"/>
            <a:pathLst>
              <a:path h="769996" w="1714566">
                <a:moveTo>
                  <a:pt x="1714566" y="0"/>
                </a:moveTo>
                <a:lnTo>
                  <a:pt x="0" y="0"/>
                </a:lnTo>
                <a:lnTo>
                  <a:pt x="0" y="769996"/>
                </a:lnTo>
                <a:lnTo>
                  <a:pt x="1714566" y="769996"/>
                </a:lnTo>
                <a:lnTo>
                  <a:pt x="17145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23955" y="837820"/>
            <a:ext cx="8374699" cy="7567683"/>
          </a:xfrm>
          <a:custGeom>
            <a:avLst/>
            <a:gdLst/>
            <a:ahLst/>
            <a:cxnLst/>
            <a:rect r="r" b="b" t="t" l="l"/>
            <a:pathLst>
              <a:path h="7567683" w="8374699">
                <a:moveTo>
                  <a:pt x="0" y="0"/>
                </a:moveTo>
                <a:lnTo>
                  <a:pt x="8374699" y="0"/>
                </a:lnTo>
                <a:lnTo>
                  <a:pt x="8374699" y="7567683"/>
                </a:lnTo>
                <a:lnTo>
                  <a:pt x="0" y="75676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041196" y="6633682"/>
            <a:ext cx="1750484" cy="2536140"/>
            <a:chOff x="0" y="0"/>
            <a:chExt cx="461033" cy="6679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1033" cy="667955"/>
            </a:xfrm>
            <a:custGeom>
              <a:avLst/>
              <a:gdLst/>
              <a:ahLst/>
              <a:cxnLst/>
              <a:rect r="r" b="b" t="t" l="l"/>
              <a:pathLst>
                <a:path h="667955" w="461033">
                  <a:moveTo>
                    <a:pt x="0" y="0"/>
                  </a:moveTo>
                  <a:lnTo>
                    <a:pt x="461033" y="0"/>
                  </a:lnTo>
                  <a:lnTo>
                    <a:pt x="461033" y="667955"/>
                  </a:lnTo>
                  <a:lnTo>
                    <a:pt x="0" y="667955"/>
                  </a:ln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61033" cy="667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019175"/>
            <a:ext cx="6400039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b="true" sz="9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Agile Method Planning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91680" y="8534400"/>
            <a:ext cx="350610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Julia Roussel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296275"/>
            <a:ext cx="533731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 Flexible Approach to Software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91680" y="1040175"/>
            <a:ext cx="3810021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 Flexible Approach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91680" y="8896350"/>
            <a:ext cx="350610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18 April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06652" y="1001951"/>
            <a:ext cx="1714566" cy="769996"/>
          </a:xfrm>
          <a:custGeom>
            <a:avLst/>
            <a:gdLst/>
            <a:ahLst/>
            <a:cxnLst/>
            <a:rect r="r" b="b" t="t" l="l"/>
            <a:pathLst>
              <a:path h="769996" w="1714566">
                <a:moveTo>
                  <a:pt x="0" y="0"/>
                </a:moveTo>
                <a:lnTo>
                  <a:pt x="1714565" y="0"/>
                </a:lnTo>
                <a:lnTo>
                  <a:pt x="1714565" y="769996"/>
                </a:lnTo>
                <a:lnTo>
                  <a:pt x="0" y="769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16120" y="0"/>
            <a:ext cx="2065918" cy="2773898"/>
            <a:chOff x="0" y="0"/>
            <a:chExt cx="544110" cy="7305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4110" cy="730574"/>
            </a:xfrm>
            <a:custGeom>
              <a:avLst/>
              <a:gdLst/>
              <a:ahLst/>
              <a:cxnLst/>
              <a:rect r="r" b="b" t="t" l="l"/>
              <a:pathLst>
                <a:path h="730574" w="544110">
                  <a:moveTo>
                    <a:pt x="0" y="0"/>
                  </a:moveTo>
                  <a:lnTo>
                    <a:pt x="544110" y="0"/>
                  </a:lnTo>
                  <a:lnTo>
                    <a:pt x="544110" y="730574"/>
                  </a:lnTo>
                  <a:lnTo>
                    <a:pt x="0" y="730574"/>
                  </a:ln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44110" cy="730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13354249" y="3543877"/>
            <a:ext cx="3149554" cy="3604640"/>
          </a:xfrm>
          <a:custGeom>
            <a:avLst/>
            <a:gdLst/>
            <a:ahLst/>
            <a:cxnLst/>
            <a:rect r="r" b="b" t="t" l="l"/>
            <a:pathLst>
              <a:path h="3604640" w="3149554">
                <a:moveTo>
                  <a:pt x="0" y="0"/>
                </a:moveTo>
                <a:lnTo>
                  <a:pt x="3149553" y="0"/>
                </a:lnTo>
                <a:lnTo>
                  <a:pt x="3149553" y="3604640"/>
                </a:lnTo>
                <a:lnTo>
                  <a:pt x="0" y="3604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68784" y="1596636"/>
            <a:ext cx="8009833" cy="7118739"/>
          </a:xfrm>
          <a:custGeom>
            <a:avLst/>
            <a:gdLst/>
            <a:ahLst/>
            <a:cxnLst/>
            <a:rect r="r" b="b" t="t" l="l"/>
            <a:pathLst>
              <a:path h="7118739" w="8009833">
                <a:moveTo>
                  <a:pt x="0" y="0"/>
                </a:moveTo>
                <a:lnTo>
                  <a:pt x="8009833" y="0"/>
                </a:lnTo>
                <a:lnTo>
                  <a:pt x="8009833" y="7118739"/>
                </a:lnTo>
                <a:lnTo>
                  <a:pt x="0" y="7118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89482" y="6930499"/>
            <a:ext cx="8869818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80"/>
              </a:lnSpc>
            </a:pPr>
            <a:r>
              <a:rPr lang="en-US" b="true" sz="7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Roles in an Agile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28700"/>
            <a:ext cx="350610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2D414D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Product Owner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480076"/>
            <a:ext cx="3912049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Accountable for Product backlog management and defines the vision, while communicating the backlog goals.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089926"/>
            <a:ext cx="366561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2D414D"/>
                </a:solidFill>
                <a:latin typeface="TT Hoves Bold"/>
                <a:ea typeface="TT Hoves Bold"/>
                <a:cs typeface="TT Hoves Bold"/>
                <a:sym typeface="TT Hoves Bold"/>
              </a:rPr>
              <a:t>Scrum Master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572000"/>
            <a:ext cx="3665615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Accountable for establishing scrum as defined in the scrum guide and helping the team understand scrum theory and practices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513102"/>
            <a:ext cx="366561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2D414D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Development 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001000"/>
            <a:ext cx="3665615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Works as a team to make a collaborative effort towards building and delivering product increments.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8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544734" y="8268494"/>
            <a:ext cx="1714566" cy="769996"/>
          </a:xfrm>
          <a:custGeom>
            <a:avLst/>
            <a:gdLst/>
            <a:ahLst/>
            <a:cxnLst/>
            <a:rect r="r" b="b" t="t" l="l"/>
            <a:pathLst>
              <a:path h="769996" w="1714566">
                <a:moveTo>
                  <a:pt x="1714566" y="0"/>
                </a:moveTo>
                <a:lnTo>
                  <a:pt x="0" y="0"/>
                </a:lnTo>
                <a:lnTo>
                  <a:pt x="0" y="769996"/>
                </a:lnTo>
                <a:lnTo>
                  <a:pt x="1714566" y="769996"/>
                </a:lnTo>
                <a:lnTo>
                  <a:pt x="17145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558875" y="111155"/>
            <a:ext cx="4434749" cy="5075536"/>
          </a:xfrm>
          <a:custGeom>
            <a:avLst/>
            <a:gdLst/>
            <a:ahLst/>
            <a:cxnLst/>
            <a:rect r="r" b="b" t="t" l="l"/>
            <a:pathLst>
              <a:path h="5075536" w="4434749">
                <a:moveTo>
                  <a:pt x="0" y="0"/>
                </a:moveTo>
                <a:lnTo>
                  <a:pt x="4434749" y="0"/>
                </a:lnTo>
                <a:lnTo>
                  <a:pt x="4434749" y="5075536"/>
                </a:lnTo>
                <a:lnTo>
                  <a:pt x="0" y="5075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8179693" y="4594357"/>
            <a:ext cx="1750484" cy="3456478"/>
            <a:chOff x="0" y="0"/>
            <a:chExt cx="461033" cy="9103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1033" cy="910348"/>
            </a:xfrm>
            <a:custGeom>
              <a:avLst/>
              <a:gdLst/>
              <a:ahLst/>
              <a:cxnLst/>
              <a:rect r="r" b="b" t="t" l="l"/>
              <a:pathLst>
                <a:path h="910348" w="461033">
                  <a:moveTo>
                    <a:pt x="0" y="0"/>
                  </a:moveTo>
                  <a:lnTo>
                    <a:pt x="461033" y="0"/>
                  </a:lnTo>
                  <a:lnTo>
                    <a:pt x="461033" y="910348"/>
                  </a:lnTo>
                  <a:lnTo>
                    <a:pt x="0" y="910348"/>
                  </a:ln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61033" cy="910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87346" y="1056383"/>
            <a:ext cx="5492662" cy="6421663"/>
          </a:xfrm>
          <a:custGeom>
            <a:avLst/>
            <a:gdLst/>
            <a:ahLst/>
            <a:cxnLst/>
            <a:rect r="r" b="b" t="t" l="l"/>
            <a:pathLst>
              <a:path h="6421663" w="5492662">
                <a:moveTo>
                  <a:pt x="0" y="0"/>
                </a:moveTo>
                <a:lnTo>
                  <a:pt x="5492663" y="0"/>
                </a:lnTo>
                <a:lnTo>
                  <a:pt x="5492663" y="6421663"/>
                </a:lnTo>
                <a:lnTo>
                  <a:pt x="0" y="64216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1738" y="6865645"/>
            <a:ext cx="880995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Importance of Agile Team Roles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04125" y="1744048"/>
            <a:ext cx="4781802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Clear roles ensure that that all team members are held accountable, communicate effectively and there is efficency in the delivery of value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04125" y="4674895"/>
            <a:ext cx="515517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Helps the team improve on efficiency, blockers are removed and the process is clear cut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04125" y="1038225"/>
            <a:ext cx="163469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04125" y="4033852"/>
            <a:ext cx="163469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04125" y="6236995"/>
            <a:ext cx="163469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04125" y="6875170"/>
            <a:ext cx="515517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Supports continuous improvement, reinforces regular feedback loops where disscussions are facilitated.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07006" y="6930799"/>
            <a:ext cx="4434749" cy="5075536"/>
          </a:xfrm>
          <a:custGeom>
            <a:avLst/>
            <a:gdLst/>
            <a:ahLst/>
            <a:cxnLst/>
            <a:rect r="r" b="b" t="t" l="l"/>
            <a:pathLst>
              <a:path h="5075536" w="4434749">
                <a:moveTo>
                  <a:pt x="0" y="0"/>
                </a:moveTo>
                <a:lnTo>
                  <a:pt x="4434750" y="0"/>
                </a:lnTo>
                <a:lnTo>
                  <a:pt x="4434750" y="5075536"/>
                </a:lnTo>
                <a:lnTo>
                  <a:pt x="0" y="507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1236" y="2008532"/>
            <a:ext cx="13363628" cy="7249768"/>
          </a:xfrm>
          <a:custGeom>
            <a:avLst/>
            <a:gdLst/>
            <a:ahLst/>
            <a:cxnLst/>
            <a:rect r="r" b="b" t="t" l="l"/>
            <a:pathLst>
              <a:path h="7249768" w="13363628">
                <a:moveTo>
                  <a:pt x="0" y="0"/>
                </a:moveTo>
                <a:lnTo>
                  <a:pt x="13363628" y="0"/>
                </a:lnTo>
                <a:lnTo>
                  <a:pt x="13363628" y="7249768"/>
                </a:lnTo>
                <a:lnTo>
                  <a:pt x="0" y="7249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0971" y="6112772"/>
            <a:ext cx="898045" cy="900295"/>
          </a:xfrm>
          <a:custGeom>
            <a:avLst/>
            <a:gdLst/>
            <a:ahLst/>
            <a:cxnLst/>
            <a:rect r="r" b="b" t="t" l="l"/>
            <a:pathLst>
              <a:path h="900295" w="898045">
                <a:moveTo>
                  <a:pt x="0" y="0"/>
                </a:moveTo>
                <a:lnTo>
                  <a:pt x="898044" y="0"/>
                </a:lnTo>
                <a:lnTo>
                  <a:pt x="898044" y="900295"/>
                </a:lnTo>
                <a:lnTo>
                  <a:pt x="0" y="9002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49988" y="7786782"/>
            <a:ext cx="811975" cy="811975"/>
          </a:xfrm>
          <a:custGeom>
            <a:avLst/>
            <a:gdLst/>
            <a:ahLst/>
            <a:cxnLst/>
            <a:rect r="r" b="b" t="t" l="l"/>
            <a:pathLst>
              <a:path h="811975" w="811975">
                <a:moveTo>
                  <a:pt x="0" y="0"/>
                </a:moveTo>
                <a:lnTo>
                  <a:pt x="811975" y="0"/>
                </a:lnTo>
                <a:lnTo>
                  <a:pt x="811975" y="811975"/>
                </a:lnTo>
                <a:lnTo>
                  <a:pt x="0" y="811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70877" y="2159636"/>
            <a:ext cx="907611" cy="827817"/>
          </a:xfrm>
          <a:custGeom>
            <a:avLst/>
            <a:gdLst/>
            <a:ahLst/>
            <a:cxnLst/>
            <a:rect r="r" b="b" t="t" l="l"/>
            <a:pathLst>
              <a:path h="827817" w="907611">
                <a:moveTo>
                  <a:pt x="0" y="0"/>
                </a:moveTo>
                <a:lnTo>
                  <a:pt x="907611" y="0"/>
                </a:lnTo>
                <a:lnTo>
                  <a:pt x="907611" y="827817"/>
                </a:lnTo>
                <a:lnTo>
                  <a:pt x="0" y="8278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93782" y="7786782"/>
            <a:ext cx="918952" cy="858838"/>
          </a:xfrm>
          <a:custGeom>
            <a:avLst/>
            <a:gdLst/>
            <a:ahLst/>
            <a:cxnLst/>
            <a:rect r="r" b="b" t="t" l="l"/>
            <a:pathLst>
              <a:path h="858838" w="918952">
                <a:moveTo>
                  <a:pt x="0" y="0"/>
                </a:moveTo>
                <a:lnTo>
                  <a:pt x="918953" y="0"/>
                </a:lnTo>
                <a:lnTo>
                  <a:pt x="918953" y="858837"/>
                </a:lnTo>
                <a:lnTo>
                  <a:pt x="0" y="8588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55252" y="4906859"/>
            <a:ext cx="848995" cy="848995"/>
          </a:xfrm>
          <a:custGeom>
            <a:avLst/>
            <a:gdLst/>
            <a:ahLst/>
            <a:cxnLst/>
            <a:rect r="r" b="b" t="t" l="l"/>
            <a:pathLst>
              <a:path h="848995" w="848995">
                <a:moveTo>
                  <a:pt x="0" y="0"/>
                </a:moveTo>
                <a:lnTo>
                  <a:pt x="848994" y="0"/>
                </a:lnTo>
                <a:lnTo>
                  <a:pt x="848994" y="848995"/>
                </a:lnTo>
                <a:lnTo>
                  <a:pt x="0" y="8489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62643" y="2159636"/>
            <a:ext cx="5118146" cy="4805806"/>
            <a:chOff x="0" y="0"/>
            <a:chExt cx="6824195" cy="640774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286698" y="53115"/>
              <a:ext cx="5537497" cy="1821872"/>
              <a:chOff x="0" y="0"/>
              <a:chExt cx="3202591" cy="105367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86698" y="0"/>
              <a:ext cx="5537497" cy="1744346"/>
              <a:chOff x="0" y="0"/>
              <a:chExt cx="3202591" cy="100883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475343" y="2323651"/>
              <a:ext cx="5537497" cy="1821872"/>
              <a:chOff x="0" y="0"/>
              <a:chExt cx="3202591" cy="105367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75343" y="2270536"/>
              <a:ext cx="5537497" cy="1744346"/>
              <a:chOff x="0" y="0"/>
              <a:chExt cx="3202591" cy="100883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4585870"/>
              <a:ext cx="5537497" cy="1821872"/>
              <a:chOff x="0" y="0"/>
              <a:chExt cx="3202591" cy="105367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4532755"/>
              <a:ext cx="5537497" cy="1744346"/>
              <a:chOff x="0" y="0"/>
              <a:chExt cx="3202591" cy="100883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773970" y="2718137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02 - Design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73970" y="3221904"/>
              <a:ext cx="4940243" cy="371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Create solutions iteratively.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98627" y="5009027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03 - Development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98627" y="5512794"/>
              <a:ext cx="4940243" cy="371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Build the project in sprints.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79152" y="63710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Define project goals and establish clear business value expectations.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579152" y="199524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01 - Sprint Planning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735096" y="2159636"/>
            <a:ext cx="4153123" cy="1406240"/>
            <a:chOff x="0" y="0"/>
            <a:chExt cx="5537497" cy="187498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13220477" y="3859419"/>
            <a:ext cx="4153123" cy="1406240"/>
            <a:chOff x="0" y="0"/>
            <a:chExt cx="5537497" cy="1874987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13615183" y="5559202"/>
            <a:ext cx="4153123" cy="1406240"/>
            <a:chOff x="0" y="0"/>
            <a:chExt cx="5537497" cy="1874987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sp>
        <p:nvSpPr>
          <p:cNvPr name="Freeform 55" id="55"/>
          <p:cNvSpPr/>
          <p:nvPr/>
        </p:nvSpPr>
        <p:spPr>
          <a:xfrm flipH="false" flipV="false" rot="0">
            <a:off x="6229472" y="3565876"/>
            <a:ext cx="976678" cy="717859"/>
          </a:xfrm>
          <a:custGeom>
            <a:avLst/>
            <a:gdLst/>
            <a:ahLst/>
            <a:cxnLst/>
            <a:rect r="r" b="b" t="t" l="l"/>
            <a:pathLst>
              <a:path h="717859" w="976678">
                <a:moveTo>
                  <a:pt x="0" y="0"/>
                </a:moveTo>
                <a:lnTo>
                  <a:pt x="976678" y="0"/>
                </a:lnTo>
                <a:lnTo>
                  <a:pt x="976678" y="717858"/>
                </a:lnTo>
                <a:lnTo>
                  <a:pt x="0" y="7178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4924596" y="7053357"/>
            <a:ext cx="317079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05 </a:t>
            </a: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- Release &amp; Deployment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206150" y="8531319"/>
            <a:ext cx="225506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01 - Sprint Planning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092303" y="8682132"/>
            <a:ext cx="37051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06</a:t>
            </a: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- Review &amp; Feedback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309090" y="604814"/>
            <a:ext cx="14474179" cy="92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3"/>
              </a:lnSpc>
            </a:pPr>
            <a:r>
              <a:rPr lang="en-US" b="true" sz="6322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Complete Agile SDLC Phases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352189" y="4364101"/>
            <a:ext cx="250280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04 </a:t>
            </a: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- Testing &amp; Quality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487730" y="3065984"/>
            <a:ext cx="212451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03 - Development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256536" y="5949379"/>
            <a:ext cx="167153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02 - Design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959066" y="2320177"/>
            <a:ext cx="3705183" cy="944245"/>
            <a:chOff x="0" y="0"/>
            <a:chExt cx="4940243" cy="1258993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-47625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04 </a:t>
              </a: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- Testing &amp; Quality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0" y="45614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Verify functionality with automated, manual testing.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444447" y="4072032"/>
            <a:ext cx="3705183" cy="944245"/>
            <a:chOff x="0" y="0"/>
            <a:chExt cx="4940243" cy="1258993"/>
          </a:xfrm>
        </p:grpSpPr>
        <p:sp>
          <p:nvSpPr>
            <p:cNvPr name="TextBox 67" id="67"/>
            <p:cNvSpPr txBox="true"/>
            <p:nvPr/>
          </p:nvSpPr>
          <p:spPr>
            <a:xfrm rot="0">
              <a:off x="0" y="45614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Deliver working software increments to production environments for users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0" y="-47625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05 </a:t>
              </a: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- Release &amp; Deployment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839154" y="5755854"/>
            <a:ext cx="3705183" cy="944245"/>
            <a:chOff x="0" y="0"/>
            <a:chExt cx="4940243" cy="1258993"/>
          </a:xfrm>
        </p:grpSpPr>
        <p:sp>
          <p:nvSpPr>
            <p:cNvPr name="TextBox 70" id="70"/>
            <p:cNvSpPr txBox="true"/>
            <p:nvPr/>
          </p:nvSpPr>
          <p:spPr>
            <a:xfrm rot="0">
              <a:off x="0" y="45614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Share progress with stakeholders; gather improvement insights.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0" y="-47625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06</a:t>
              </a:r>
              <a:r>
                <a:rPr lang="en-US" b="true" sz="20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 - Review &amp; Feedback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9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6749" y="390525"/>
            <a:ext cx="9052508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80"/>
              </a:lnSpc>
            </a:pPr>
            <a:r>
              <a:rPr lang="en-US" b="true" sz="7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Importance of Agile Phases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924791" y="1817340"/>
            <a:ext cx="1714566" cy="769996"/>
          </a:xfrm>
          <a:custGeom>
            <a:avLst/>
            <a:gdLst/>
            <a:ahLst/>
            <a:cxnLst/>
            <a:rect r="r" b="b" t="t" l="l"/>
            <a:pathLst>
              <a:path h="769996" w="1714566">
                <a:moveTo>
                  <a:pt x="1714566" y="769996"/>
                </a:moveTo>
                <a:lnTo>
                  <a:pt x="0" y="769996"/>
                </a:lnTo>
                <a:lnTo>
                  <a:pt x="0" y="0"/>
                </a:lnTo>
                <a:lnTo>
                  <a:pt x="1714566" y="0"/>
                </a:lnTo>
                <a:lnTo>
                  <a:pt x="1714566" y="769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707009" y="3195802"/>
            <a:ext cx="3149554" cy="3604640"/>
          </a:xfrm>
          <a:custGeom>
            <a:avLst/>
            <a:gdLst/>
            <a:ahLst/>
            <a:cxnLst/>
            <a:rect r="r" b="b" t="t" l="l"/>
            <a:pathLst>
              <a:path h="3604640" w="3149554">
                <a:moveTo>
                  <a:pt x="0" y="0"/>
                </a:moveTo>
                <a:lnTo>
                  <a:pt x="3149554" y="0"/>
                </a:lnTo>
                <a:lnTo>
                  <a:pt x="3149554" y="3604640"/>
                </a:lnTo>
                <a:lnTo>
                  <a:pt x="0" y="3604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60227" y="3301115"/>
            <a:ext cx="6325616" cy="6325616"/>
          </a:xfrm>
          <a:custGeom>
            <a:avLst/>
            <a:gdLst/>
            <a:ahLst/>
            <a:cxnLst/>
            <a:rect r="r" b="b" t="t" l="l"/>
            <a:pathLst>
              <a:path h="6325616" w="6325616">
                <a:moveTo>
                  <a:pt x="0" y="0"/>
                </a:moveTo>
                <a:lnTo>
                  <a:pt x="6325616" y="0"/>
                </a:lnTo>
                <a:lnTo>
                  <a:pt x="6325616" y="6325616"/>
                </a:lnTo>
                <a:lnTo>
                  <a:pt x="0" y="6325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09309" y="6118046"/>
            <a:ext cx="1383925" cy="2953987"/>
            <a:chOff x="0" y="0"/>
            <a:chExt cx="364491" cy="778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91" cy="778005"/>
            </a:xfrm>
            <a:custGeom>
              <a:avLst/>
              <a:gdLst/>
              <a:ahLst/>
              <a:cxnLst/>
              <a:rect r="r" b="b" t="t" l="l"/>
              <a:pathLst>
                <a:path h="778005" w="364491">
                  <a:moveTo>
                    <a:pt x="0" y="0"/>
                  </a:moveTo>
                  <a:lnTo>
                    <a:pt x="364491" y="0"/>
                  </a:lnTo>
                  <a:lnTo>
                    <a:pt x="364491" y="778005"/>
                  </a:lnTo>
                  <a:lnTo>
                    <a:pt x="0" y="778005"/>
                  </a:ln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4491" cy="778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9497" y="1235273"/>
            <a:ext cx="466980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FFC801"/>
                </a:solidFill>
                <a:latin typeface="TT Hoves Bold"/>
                <a:ea typeface="TT Hoves Bold"/>
                <a:cs typeface="TT Hoves Bold"/>
                <a:sym typeface="TT Hoves Bold"/>
              </a:rPr>
              <a:t>Customer Collaboration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89497" y="1715393"/>
            <a:ext cx="466980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Engage with customers throughout the project.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89497" y="3439418"/>
            <a:ext cx="466980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FFC801"/>
                </a:solidFill>
                <a:latin typeface="TT Hoves Bold"/>
                <a:ea typeface="TT Hoves Bold"/>
                <a:cs typeface="TT Hoves Bold"/>
                <a:sym typeface="TT Hoves Bold"/>
              </a:rPr>
              <a:t>Adaptability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9497" y="3917791"/>
            <a:ext cx="466980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Ability to change course based on feedback.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89497" y="5660866"/>
            <a:ext cx="466980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FFC801"/>
                </a:solidFill>
                <a:latin typeface="TT Hoves Bold"/>
                <a:ea typeface="TT Hoves Bold"/>
                <a:cs typeface="TT Hoves Bold"/>
                <a:sym typeface="TT Hoves Bold"/>
              </a:rPr>
              <a:t>Iterative Process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9497" y="6118046"/>
            <a:ext cx="466980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Regular updates and iterations ensure progress.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89497" y="7830404"/>
            <a:ext cx="466980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FFC801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Self-Organizing Teams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89497" y="8327827"/>
            <a:ext cx="466980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Teams manage their own work with autonomy.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64081" y="-135382"/>
            <a:ext cx="2065918" cy="10834275"/>
            <a:chOff x="0" y="0"/>
            <a:chExt cx="544110" cy="285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4110" cy="2853472"/>
            </a:xfrm>
            <a:custGeom>
              <a:avLst/>
              <a:gdLst/>
              <a:ahLst/>
              <a:cxnLst/>
              <a:rect r="r" b="b" t="t" l="l"/>
              <a:pathLst>
                <a:path h="2853472" w="544110">
                  <a:moveTo>
                    <a:pt x="0" y="0"/>
                  </a:moveTo>
                  <a:lnTo>
                    <a:pt x="544110" y="0"/>
                  </a:lnTo>
                  <a:lnTo>
                    <a:pt x="544110" y="2853472"/>
                  </a:lnTo>
                  <a:lnTo>
                    <a:pt x="0" y="2853472"/>
                  </a:ln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44110" cy="285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5152902" y="2894255"/>
            <a:ext cx="3149554" cy="3604640"/>
          </a:xfrm>
          <a:custGeom>
            <a:avLst/>
            <a:gdLst/>
            <a:ahLst/>
            <a:cxnLst/>
            <a:rect r="r" b="b" t="t" l="l"/>
            <a:pathLst>
              <a:path h="3604640" w="3149554">
                <a:moveTo>
                  <a:pt x="0" y="0"/>
                </a:moveTo>
                <a:lnTo>
                  <a:pt x="3149554" y="0"/>
                </a:lnTo>
                <a:lnTo>
                  <a:pt x="3149554" y="3604639"/>
                </a:lnTo>
                <a:lnTo>
                  <a:pt x="0" y="360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91263" y="-76685"/>
            <a:ext cx="11451585" cy="10363685"/>
          </a:xfrm>
          <a:custGeom>
            <a:avLst/>
            <a:gdLst/>
            <a:ahLst/>
            <a:cxnLst/>
            <a:rect r="r" b="b" t="t" l="l"/>
            <a:pathLst>
              <a:path h="10363685" w="11451585">
                <a:moveTo>
                  <a:pt x="0" y="0"/>
                </a:moveTo>
                <a:lnTo>
                  <a:pt x="11451585" y="0"/>
                </a:lnTo>
                <a:lnTo>
                  <a:pt x="11451585" y="10363685"/>
                </a:lnTo>
                <a:lnTo>
                  <a:pt x="0" y="1036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7925" y="1776560"/>
            <a:ext cx="6192566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80"/>
              </a:lnSpc>
            </a:pPr>
            <a:r>
              <a:rPr lang="en-US" b="true" sz="7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Waterfall Model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40494" y="1063915"/>
            <a:ext cx="4153123" cy="1406240"/>
            <a:chOff x="0" y="0"/>
            <a:chExt cx="5537497" cy="187498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92454" y="63710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All Projects needs are gathered upfront.  Only time for client input.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92454" y="199524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38814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Requirements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47575" y="2727330"/>
            <a:ext cx="4153123" cy="1406240"/>
            <a:chOff x="0" y="0"/>
            <a:chExt cx="5537497" cy="187498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92454" y="63710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 detailed blueprint for the solution is created. along with architechture.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92454" y="199524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38814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Design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41748" y="4390745"/>
            <a:ext cx="4153123" cy="1406240"/>
            <a:chOff x="0" y="0"/>
            <a:chExt cx="5537497" cy="187498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92454" y="63710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The building of the product based on the specifications laid out in design phase.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92454" y="199524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38814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Implementation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891263" y="6054160"/>
            <a:ext cx="4153123" cy="1406240"/>
            <a:chOff x="0" y="0"/>
            <a:chExt cx="5537497" cy="18749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292454" y="63710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All the testing is done, to ensure it meets requirements and is error free.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92454" y="199524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38814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Testing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082666" y="7746150"/>
            <a:ext cx="4153123" cy="1406240"/>
            <a:chOff x="0" y="0"/>
            <a:chExt cx="5537497" cy="1874987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53115"/>
              <a:ext cx="5537497" cy="1821872"/>
              <a:chOff x="0" y="0"/>
              <a:chExt cx="3202591" cy="105367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202592" cy="1053673"/>
              </a:xfrm>
              <a:custGeom>
                <a:avLst/>
                <a:gdLst/>
                <a:ahLst/>
                <a:cxnLst/>
                <a:rect r="r" b="b" t="t" l="l"/>
                <a:pathLst>
                  <a:path h="1053673" w="3202592">
                    <a:moveTo>
                      <a:pt x="63380" y="0"/>
                    </a:moveTo>
                    <a:lnTo>
                      <a:pt x="3139211" y="0"/>
                    </a:lnTo>
                    <a:cubicBezTo>
                      <a:pt x="3156021" y="0"/>
                      <a:pt x="3172142" y="6678"/>
                      <a:pt x="3184028" y="18564"/>
                    </a:cubicBezTo>
                    <a:cubicBezTo>
                      <a:pt x="3195914" y="30450"/>
                      <a:pt x="3202592" y="46571"/>
                      <a:pt x="3202592" y="63380"/>
                    </a:cubicBezTo>
                    <a:lnTo>
                      <a:pt x="3202592" y="990293"/>
                    </a:lnTo>
                    <a:cubicBezTo>
                      <a:pt x="3202592" y="1007102"/>
                      <a:pt x="3195914" y="1023223"/>
                      <a:pt x="3184028" y="1035109"/>
                    </a:cubicBezTo>
                    <a:cubicBezTo>
                      <a:pt x="3172142" y="1046995"/>
                      <a:pt x="3156021" y="1053673"/>
                      <a:pt x="3139211" y="1053673"/>
                    </a:cubicBezTo>
                    <a:lnTo>
                      <a:pt x="63380" y="1053673"/>
                    </a:lnTo>
                    <a:cubicBezTo>
                      <a:pt x="46571" y="1053673"/>
                      <a:pt x="30450" y="1046995"/>
                      <a:pt x="18564" y="1035109"/>
                    </a:cubicBezTo>
                    <a:cubicBezTo>
                      <a:pt x="6678" y="1023223"/>
                      <a:pt x="0" y="1007102"/>
                      <a:pt x="0" y="990293"/>
                    </a:cubicBezTo>
                    <a:lnTo>
                      <a:pt x="0" y="63380"/>
                    </a:lnTo>
                    <a:cubicBezTo>
                      <a:pt x="0" y="46571"/>
                      <a:pt x="6678" y="30450"/>
                      <a:pt x="18564" y="18564"/>
                    </a:cubicBezTo>
                    <a:cubicBezTo>
                      <a:pt x="30450" y="6678"/>
                      <a:pt x="46571" y="0"/>
                      <a:pt x="63380" y="0"/>
                    </a:cubicBezTo>
                    <a:close/>
                  </a:path>
                </a:pathLst>
              </a:custGeom>
              <a:solidFill>
                <a:srgbClr val="FFC801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3202591" cy="110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0"/>
              <a:ext cx="5537497" cy="1744346"/>
              <a:chOff x="0" y="0"/>
              <a:chExt cx="3202591" cy="100883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202592" cy="1008836"/>
              </a:xfrm>
              <a:custGeom>
                <a:avLst/>
                <a:gdLst/>
                <a:ahLst/>
                <a:cxnLst/>
                <a:rect r="r" b="b" t="t" l="l"/>
                <a:pathLst>
                  <a:path h="1008836" w="3202592">
                    <a:moveTo>
                      <a:pt x="50331" y="0"/>
                    </a:moveTo>
                    <a:lnTo>
                      <a:pt x="3152260" y="0"/>
                    </a:lnTo>
                    <a:cubicBezTo>
                      <a:pt x="3165609" y="0"/>
                      <a:pt x="3178411" y="5303"/>
                      <a:pt x="3187850" y="14742"/>
                    </a:cubicBezTo>
                    <a:cubicBezTo>
                      <a:pt x="3197289" y="24181"/>
                      <a:pt x="3202592" y="36983"/>
                      <a:pt x="3202592" y="50331"/>
                    </a:cubicBezTo>
                    <a:lnTo>
                      <a:pt x="3202592" y="958505"/>
                    </a:lnTo>
                    <a:cubicBezTo>
                      <a:pt x="3202592" y="971854"/>
                      <a:pt x="3197289" y="984656"/>
                      <a:pt x="3187850" y="994095"/>
                    </a:cubicBezTo>
                    <a:cubicBezTo>
                      <a:pt x="3178411" y="1003533"/>
                      <a:pt x="3165609" y="1008836"/>
                      <a:pt x="3152260" y="1008836"/>
                    </a:cubicBezTo>
                    <a:lnTo>
                      <a:pt x="50331" y="1008836"/>
                    </a:lnTo>
                    <a:cubicBezTo>
                      <a:pt x="36983" y="1008836"/>
                      <a:pt x="24181" y="1003533"/>
                      <a:pt x="14742" y="994095"/>
                    </a:cubicBezTo>
                    <a:cubicBezTo>
                      <a:pt x="5303" y="984656"/>
                      <a:pt x="0" y="971854"/>
                      <a:pt x="0" y="958505"/>
                    </a:cubicBezTo>
                    <a:lnTo>
                      <a:pt x="0" y="50331"/>
                    </a:lnTo>
                    <a:cubicBezTo>
                      <a:pt x="0" y="36983"/>
                      <a:pt x="5303" y="24181"/>
                      <a:pt x="14742" y="14742"/>
                    </a:cubicBezTo>
                    <a:cubicBezTo>
                      <a:pt x="24181" y="5303"/>
                      <a:pt x="36983" y="0"/>
                      <a:pt x="50331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3202591" cy="1056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292454" y="637102"/>
              <a:ext cx="4940243" cy="80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lang="en-US" sz="1600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The Deliverable is realeased to the client or the end-user.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92454" y="199524"/>
              <a:ext cx="494024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38814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Deployment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V="true">
            <a:off x="6192107" y="1568616"/>
            <a:ext cx="1348387" cy="1158714"/>
          </a:xfrm>
          <a:prstGeom prst="line">
            <a:avLst/>
          </a:prstGeom>
          <a:ln cap="flat" w="38100">
            <a:solidFill>
              <a:srgbClr val="2D676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V="true">
            <a:off x="4841748" y="3175070"/>
            <a:ext cx="1305827" cy="1215675"/>
          </a:xfrm>
          <a:prstGeom prst="line">
            <a:avLst/>
          </a:prstGeom>
          <a:ln cap="flat" w="38100">
            <a:solidFill>
              <a:srgbClr val="2D676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V="true">
            <a:off x="3917731" y="4696574"/>
            <a:ext cx="905034" cy="1357585"/>
          </a:xfrm>
          <a:prstGeom prst="line">
            <a:avLst/>
          </a:prstGeom>
          <a:ln cap="flat" w="38100">
            <a:solidFill>
              <a:srgbClr val="2D676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3082666" y="6361020"/>
            <a:ext cx="815174" cy="1385129"/>
          </a:xfrm>
          <a:prstGeom prst="line">
            <a:avLst/>
          </a:prstGeom>
          <a:ln cap="flat" w="38100">
            <a:solidFill>
              <a:srgbClr val="2D676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 flipH="false" flipV="false" rot="5400000">
            <a:off x="45640" y="395600"/>
            <a:ext cx="1714566" cy="769996"/>
          </a:xfrm>
          <a:custGeom>
            <a:avLst/>
            <a:gdLst/>
            <a:ahLst/>
            <a:cxnLst/>
            <a:rect r="r" b="b" t="t" l="l"/>
            <a:pathLst>
              <a:path h="769996" w="1714566">
                <a:moveTo>
                  <a:pt x="0" y="0"/>
                </a:moveTo>
                <a:lnTo>
                  <a:pt x="1714566" y="0"/>
                </a:lnTo>
                <a:lnTo>
                  <a:pt x="1714566" y="769996"/>
                </a:lnTo>
                <a:lnTo>
                  <a:pt x="0" y="769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B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6436785" y="3227259"/>
            <a:ext cx="5414430" cy="5414430"/>
          </a:xfrm>
          <a:custGeom>
            <a:avLst/>
            <a:gdLst/>
            <a:ahLst/>
            <a:cxnLst/>
            <a:rect r="r" b="b" t="t" l="l"/>
            <a:pathLst>
              <a:path h="5414430" w="5414430">
                <a:moveTo>
                  <a:pt x="0" y="0"/>
                </a:moveTo>
                <a:lnTo>
                  <a:pt x="5414430" y="0"/>
                </a:lnTo>
                <a:lnTo>
                  <a:pt x="5414430" y="5414430"/>
                </a:lnTo>
                <a:lnTo>
                  <a:pt x="0" y="5414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73579" y="4528269"/>
            <a:ext cx="6340842" cy="2385742"/>
          </a:xfrm>
          <a:custGeom>
            <a:avLst/>
            <a:gdLst/>
            <a:ahLst/>
            <a:cxnLst/>
            <a:rect r="r" b="b" t="t" l="l"/>
            <a:pathLst>
              <a:path h="2385742" w="6340842">
                <a:moveTo>
                  <a:pt x="0" y="0"/>
                </a:moveTo>
                <a:lnTo>
                  <a:pt x="6340842" y="0"/>
                </a:lnTo>
                <a:lnTo>
                  <a:pt x="6340842" y="2385742"/>
                </a:lnTo>
                <a:lnTo>
                  <a:pt x="0" y="2385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77628" y="3287917"/>
            <a:ext cx="4286720" cy="1486389"/>
            <a:chOff x="0" y="0"/>
            <a:chExt cx="3305612" cy="11461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61405" y="0"/>
                  </a:moveTo>
                  <a:lnTo>
                    <a:pt x="3244207" y="0"/>
                  </a:lnTo>
                  <a:cubicBezTo>
                    <a:pt x="3260493" y="0"/>
                    <a:pt x="3276112" y="6469"/>
                    <a:pt x="3287627" y="17985"/>
                  </a:cubicBezTo>
                  <a:cubicBezTo>
                    <a:pt x="3299143" y="29501"/>
                    <a:pt x="3305612" y="45119"/>
                    <a:pt x="3305612" y="61405"/>
                  </a:cubicBezTo>
                  <a:lnTo>
                    <a:pt x="3305612" y="1084792"/>
                  </a:lnTo>
                  <a:cubicBezTo>
                    <a:pt x="3305612" y="1118705"/>
                    <a:pt x="3278120" y="1146197"/>
                    <a:pt x="3244207" y="1146197"/>
                  </a:cubicBezTo>
                  <a:lnTo>
                    <a:pt x="61405" y="1146197"/>
                  </a:lnTo>
                  <a:cubicBezTo>
                    <a:pt x="45119" y="1146197"/>
                    <a:pt x="29501" y="1139728"/>
                    <a:pt x="17985" y="1128212"/>
                  </a:cubicBezTo>
                  <a:cubicBezTo>
                    <a:pt x="6469" y="1116696"/>
                    <a:pt x="0" y="1101078"/>
                    <a:pt x="0" y="1084792"/>
                  </a:cubicBezTo>
                  <a:lnTo>
                    <a:pt x="0" y="61405"/>
                  </a:lnTo>
                  <a:cubicBezTo>
                    <a:pt x="0" y="27492"/>
                    <a:pt x="27492" y="0"/>
                    <a:pt x="61405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23652" y="3287917"/>
            <a:ext cx="4286720" cy="1486389"/>
            <a:chOff x="0" y="0"/>
            <a:chExt cx="3305612" cy="11461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61405" y="0"/>
                  </a:moveTo>
                  <a:lnTo>
                    <a:pt x="3244207" y="0"/>
                  </a:lnTo>
                  <a:cubicBezTo>
                    <a:pt x="3260493" y="0"/>
                    <a:pt x="3276112" y="6469"/>
                    <a:pt x="3287627" y="17985"/>
                  </a:cubicBezTo>
                  <a:cubicBezTo>
                    <a:pt x="3299143" y="29501"/>
                    <a:pt x="3305612" y="45119"/>
                    <a:pt x="3305612" y="61405"/>
                  </a:cubicBezTo>
                  <a:lnTo>
                    <a:pt x="3305612" y="1084792"/>
                  </a:lnTo>
                  <a:cubicBezTo>
                    <a:pt x="3305612" y="1118705"/>
                    <a:pt x="3278120" y="1146197"/>
                    <a:pt x="3244207" y="1146197"/>
                  </a:cubicBezTo>
                  <a:lnTo>
                    <a:pt x="61405" y="1146197"/>
                  </a:lnTo>
                  <a:cubicBezTo>
                    <a:pt x="45119" y="1146197"/>
                    <a:pt x="29501" y="1139728"/>
                    <a:pt x="17985" y="1128212"/>
                  </a:cubicBezTo>
                  <a:cubicBezTo>
                    <a:pt x="6469" y="1116696"/>
                    <a:pt x="0" y="1101078"/>
                    <a:pt x="0" y="1084792"/>
                  </a:cubicBezTo>
                  <a:lnTo>
                    <a:pt x="0" y="61405"/>
                  </a:lnTo>
                  <a:cubicBezTo>
                    <a:pt x="0" y="27492"/>
                    <a:pt x="27492" y="0"/>
                    <a:pt x="61405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365834"/>
            <a:ext cx="4286720" cy="1486389"/>
            <a:chOff x="0" y="0"/>
            <a:chExt cx="3305612" cy="1146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61405" y="0"/>
                  </a:moveTo>
                  <a:lnTo>
                    <a:pt x="3244207" y="0"/>
                  </a:lnTo>
                  <a:cubicBezTo>
                    <a:pt x="3260493" y="0"/>
                    <a:pt x="3276112" y="6469"/>
                    <a:pt x="3287627" y="17985"/>
                  </a:cubicBezTo>
                  <a:cubicBezTo>
                    <a:pt x="3299143" y="29501"/>
                    <a:pt x="3305612" y="45119"/>
                    <a:pt x="3305612" y="61405"/>
                  </a:cubicBezTo>
                  <a:lnTo>
                    <a:pt x="3305612" y="1084792"/>
                  </a:lnTo>
                  <a:cubicBezTo>
                    <a:pt x="3305612" y="1118705"/>
                    <a:pt x="3278120" y="1146197"/>
                    <a:pt x="3244207" y="1146197"/>
                  </a:cubicBezTo>
                  <a:lnTo>
                    <a:pt x="61405" y="1146197"/>
                  </a:lnTo>
                  <a:cubicBezTo>
                    <a:pt x="45119" y="1146197"/>
                    <a:pt x="29501" y="1139728"/>
                    <a:pt x="17985" y="1128212"/>
                  </a:cubicBezTo>
                  <a:cubicBezTo>
                    <a:pt x="6469" y="1116696"/>
                    <a:pt x="0" y="1101078"/>
                    <a:pt x="0" y="1084792"/>
                  </a:cubicBezTo>
                  <a:lnTo>
                    <a:pt x="0" y="61405"/>
                  </a:lnTo>
                  <a:cubicBezTo>
                    <a:pt x="0" y="27492"/>
                    <a:pt x="27492" y="0"/>
                    <a:pt x="61405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72580" y="5365834"/>
            <a:ext cx="4286720" cy="1486389"/>
            <a:chOff x="0" y="0"/>
            <a:chExt cx="3305612" cy="11461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61405" y="0"/>
                  </a:moveTo>
                  <a:lnTo>
                    <a:pt x="3244207" y="0"/>
                  </a:lnTo>
                  <a:cubicBezTo>
                    <a:pt x="3260493" y="0"/>
                    <a:pt x="3276112" y="6469"/>
                    <a:pt x="3287627" y="17985"/>
                  </a:cubicBezTo>
                  <a:cubicBezTo>
                    <a:pt x="3299143" y="29501"/>
                    <a:pt x="3305612" y="45119"/>
                    <a:pt x="3305612" y="61405"/>
                  </a:cubicBezTo>
                  <a:lnTo>
                    <a:pt x="3305612" y="1084792"/>
                  </a:lnTo>
                  <a:cubicBezTo>
                    <a:pt x="3305612" y="1118705"/>
                    <a:pt x="3278120" y="1146197"/>
                    <a:pt x="3244207" y="1146197"/>
                  </a:cubicBezTo>
                  <a:lnTo>
                    <a:pt x="61405" y="1146197"/>
                  </a:lnTo>
                  <a:cubicBezTo>
                    <a:pt x="45119" y="1146197"/>
                    <a:pt x="29501" y="1139728"/>
                    <a:pt x="17985" y="1128212"/>
                  </a:cubicBezTo>
                  <a:cubicBezTo>
                    <a:pt x="6469" y="1116696"/>
                    <a:pt x="0" y="1101078"/>
                    <a:pt x="0" y="1084792"/>
                  </a:cubicBezTo>
                  <a:lnTo>
                    <a:pt x="0" y="61405"/>
                  </a:lnTo>
                  <a:cubicBezTo>
                    <a:pt x="0" y="27492"/>
                    <a:pt x="27492" y="0"/>
                    <a:pt x="61405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78905" y="6914011"/>
            <a:ext cx="1750484" cy="4154356"/>
            <a:chOff x="0" y="0"/>
            <a:chExt cx="461033" cy="1094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1033" cy="1094151"/>
            </a:xfrm>
            <a:custGeom>
              <a:avLst/>
              <a:gdLst/>
              <a:ahLst/>
              <a:cxnLst/>
              <a:rect r="r" b="b" t="t" l="l"/>
              <a:pathLst>
                <a:path h="1094151" w="461033">
                  <a:moveTo>
                    <a:pt x="0" y="0"/>
                  </a:moveTo>
                  <a:lnTo>
                    <a:pt x="461033" y="0"/>
                  </a:lnTo>
                  <a:lnTo>
                    <a:pt x="461033" y="1094151"/>
                  </a:lnTo>
                  <a:lnTo>
                    <a:pt x="0" y="1094151"/>
                  </a:ln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61033" cy="1094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77628" y="3160833"/>
            <a:ext cx="4286720" cy="1486389"/>
            <a:chOff x="0" y="0"/>
            <a:chExt cx="3305612" cy="1146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48763" y="0"/>
                  </a:moveTo>
                  <a:lnTo>
                    <a:pt x="3256850" y="0"/>
                  </a:lnTo>
                  <a:cubicBezTo>
                    <a:pt x="3283781" y="0"/>
                    <a:pt x="3305612" y="21832"/>
                    <a:pt x="3305612" y="48763"/>
                  </a:cubicBezTo>
                  <a:lnTo>
                    <a:pt x="3305612" y="1097435"/>
                  </a:lnTo>
                  <a:cubicBezTo>
                    <a:pt x="3305612" y="1124365"/>
                    <a:pt x="3283781" y="1146197"/>
                    <a:pt x="3256850" y="1146197"/>
                  </a:cubicBezTo>
                  <a:lnTo>
                    <a:pt x="48763" y="1146197"/>
                  </a:lnTo>
                  <a:cubicBezTo>
                    <a:pt x="21832" y="1146197"/>
                    <a:pt x="0" y="1124365"/>
                    <a:pt x="0" y="1097435"/>
                  </a:cubicBezTo>
                  <a:lnTo>
                    <a:pt x="0" y="48763"/>
                  </a:lnTo>
                  <a:cubicBezTo>
                    <a:pt x="0" y="21832"/>
                    <a:pt x="21832" y="0"/>
                    <a:pt x="48763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23652" y="3160833"/>
            <a:ext cx="4286720" cy="1486389"/>
            <a:chOff x="0" y="0"/>
            <a:chExt cx="3305612" cy="11461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48763" y="0"/>
                  </a:moveTo>
                  <a:lnTo>
                    <a:pt x="3256850" y="0"/>
                  </a:lnTo>
                  <a:cubicBezTo>
                    <a:pt x="3283781" y="0"/>
                    <a:pt x="3305612" y="21832"/>
                    <a:pt x="3305612" y="48763"/>
                  </a:cubicBezTo>
                  <a:lnTo>
                    <a:pt x="3305612" y="1097435"/>
                  </a:lnTo>
                  <a:cubicBezTo>
                    <a:pt x="3305612" y="1124365"/>
                    <a:pt x="3283781" y="1146197"/>
                    <a:pt x="3256850" y="1146197"/>
                  </a:cubicBezTo>
                  <a:lnTo>
                    <a:pt x="48763" y="1146197"/>
                  </a:lnTo>
                  <a:cubicBezTo>
                    <a:pt x="21832" y="1146197"/>
                    <a:pt x="0" y="1124365"/>
                    <a:pt x="0" y="1097435"/>
                  </a:cubicBezTo>
                  <a:lnTo>
                    <a:pt x="0" y="48763"/>
                  </a:lnTo>
                  <a:cubicBezTo>
                    <a:pt x="0" y="21832"/>
                    <a:pt x="21832" y="0"/>
                    <a:pt x="48763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5238750"/>
            <a:ext cx="4286720" cy="1486389"/>
            <a:chOff x="0" y="0"/>
            <a:chExt cx="3305612" cy="11461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48763" y="0"/>
                  </a:moveTo>
                  <a:lnTo>
                    <a:pt x="3256850" y="0"/>
                  </a:lnTo>
                  <a:cubicBezTo>
                    <a:pt x="3283781" y="0"/>
                    <a:pt x="3305612" y="21832"/>
                    <a:pt x="3305612" y="48763"/>
                  </a:cubicBezTo>
                  <a:lnTo>
                    <a:pt x="3305612" y="1097435"/>
                  </a:lnTo>
                  <a:cubicBezTo>
                    <a:pt x="3305612" y="1124365"/>
                    <a:pt x="3283781" y="1146197"/>
                    <a:pt x="3256850" y="1146197"/>
                  </a:cubicBezTo>
                  <a:lnTo>
                    <a:pt x="48763" y="1146197"/>
                  </a:lnTo>
                  <a:cubicBezTo>
                    <a:pt x="21832" y="1146197"/>
                    <a:pt x="0" y="1124365"/>
                    <a:pt x="0" y="1097435"/>
                  </a:cubicBezTo>
                  <a:lnTo>
                    <a:pt x="0" y="48763"/>
                  </a:lnTo>
                  <a:cubicBezTo>
                    <a:pt x="0" y="21832"/>
                    <a:pt x="21832" y="0"/>
                    <a:pt x="48763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972580" y="5238750"/>
            <a:ext cx="4286720" cy="1486389"/>
            <a:chOff x="0" y="0"/>
            <a:chExt cx="3305612" cy="11461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48763" y="0"/>
                  </a:moveTo>
                  <a:lnTo>
                    <a:pt x="3256850" y="0"/>
                  </a:lnTo>
                  <a:cubicBezTo>
                    <a:pt x="3283781" y="0"/>
                    <a:pt x="3305612" y="21832"/>
                    <a:pt x="3305612" y="48763"/>
                  </a:cubicBezTo>
                  <a:lnTo>
                    <a:pt x="3305612" y="1097435"/>
                  </a:lnTo>
                  <a:cubicBezTo>
                    <a:pt x="3305612" y="1124365"/>
                    <a:pt x="3283781" y="1146197"/>
                    <a:pt x="3256850" y="1146197"/>
                  </a:cubicBezTo>
                  <a:lnTo>
                    <a:pt x="48763" y="1146197"/>
                  </a:lnTo>
                  <a:cubicBezTo>
                    <a:pt x="21832" y="1146197"/>
                    <a:pt x="0" y="1124365"/>
                    <a:pt x="0" y="1097435"/>
                  </a:cubicBezTo>
                  <a:lnTo>
                    <a:pt x="0" y="48763"/>
                  </a:lnTo>
                  <a:cubicBezTo>
                    <a:pt x="0" y="21832"/>
                    <a:pt x="21832" y="0"/>
                    <a:pt x="48763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268396" y="3384808"/>
            <a:ext cx="37051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Sequential Phases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70590" y="6255102"/>
            <a:ext cx="179491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Waterfall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08705" y="6255102"/>
            <a:ext cx="179491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Agile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14421" y="3384808"/>
            <a:ext cx="37051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Iterative Cycles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9469" y="5462725"/>
            <a:ext cx="37051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Fixed Requirements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3349" y="5462725"/>
            <a:ext cx="37051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Adaptive Planning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68396" y="3761578"/>
            <a:ext cx="3705183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Complete each step fully  one at a time before moving to next development step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14421" y="3761578"/>
            <a:ext cx="3705183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Deliver functional software via brief, incremental development sprints.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9469" y="5839495"/>
            <a:ext cx="3705183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Set s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pecifications early with minimal flexibility for changes later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63349" y="5839495"/>
            <a:ext cx="3705183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Embrace late changes in project requirements.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263378" y="7443750"/>
            <a:ext cx="4286720" cy="1486389"/>
            <a:chOff x="0" y="0"/>
            <a:chExt cx="3305612" cy="11461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61405" y="0"/>
                  </a:moveTo>
                  <a:lnTo>
                    <a:pt x="3244207" y="0"/>
                  </a:lnTo>
                  <a:cubicBezTo>
                    <a:pt x="3260493" y="0"/>
                    <a:pt x="3276112" y="6469"/>
                    <a:pt x="3287627" y="17985"/>
                  </a:cubicBezTo>
                  <a:cubicBezTo>
                    <a:pt x="3299143" y="29501"/>
                    <a:pt x="3305612" y="45119"/>
                    <a:pt x="3305612" y="61405"/>
                  </a:cubicBezTo>
                  <a:lnTo>
                    <a:pt x="3305612" y="1084792"/>
                  </a:lnTo>
                  <a:cubicBezTo>
                    <a:pt x="3305612" y="1118705"/>
                    <a:pt x="3278120" y="1146197"/>
                    <a:pt x="3244207" y="1146197"/>
                  </a:cubicBezTo>
                  <a:lnTo>
                    <a:pt x="61405" y="1146197"/>
                  </a:lnTo>
                  <a:cubicBezTo>
                    <a:pt x="45119" y="1146197"/>
                    <a:pt x="29501" y="1139728"/>
                    <a:pt x="17985" y="1128212"/>
                  </a:cubicBezTo>
                  <a:cubicBezTo>
                    <a:pt x="6469" y="1116696"/>
                    <a:pt x="0" y="1101078"/>
                    <a:pt x="0" y="1084792"/>
                  </a:cubicBezTo>
                  <a:lnTo>
                    <a:pt x="0" y="61405"/>
                  </a:lnTo>
                  <a:cubicBezTo>
                    <a:pt x="0" y="27492"/>
                    <a:pt x="27492" y="0"/>
                    <a:pt x="61405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42652" y="7443750"/>
            <a:ext cx="4286720" cy="1486389"/>
            <a:chOff x="0" y="0"/>
            <a:chExt cx="3305612" cy="11461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61405" y="0"/>
                  </a:moveTo>
                  <a:lnTo>
                    <a:pt x="3244207" y="0"/>
                  </a:lnTo>
                  <a:cubicBezTo>
                    <a:pt x="3260493" y="0"/>
                    <a:pt x="3276112" y="6469"/>
                    <a:pt x="3287627" y="17985"/>
                  </a:cubicBezTo>
                  <a:cubicBezTo>
                    <a:pt x="3299143" y="29501"/>
                    <a:pt x="3305612" y="45119"/>
                    <a:pt x="3305612" y="61405"/>
                  </a:cubicBezTo>
                  <a:lnTo>
                    <a:pt x="3305612" y="1084792"/>
                  </a:lnTo>
                  <a:cubicBezTo>
                    <a:pt x="3305612" y="1118705"/>
                    <a:pt x="3278120" y="1146197"/>
                    <a:pt x="3244207" y="1146197"/>
                  </a:cubicBezTo>
                  <a:lnTo>
                    <a:pt x="61405" y="1146197"/>
                  </a:lnTo>
                  <a:cubicBezTo>
                    <a:pt x="45119" y="1146197"/>
                    <a:pt x="29501" y="1139728"/>
                    <a:pt x="17985" y="1128212"/>
                  </a:cubicBezTo>
                  <a:cubicBezTo>
                    <a:pt x="6469" y="1116696"/>
                    <a:pt x="0" y="1101078"/>
                    <a:pt x="0" y="1084792"/>
                  </a:cubicBezTo>
                  <a:lnTo>
                    <a:pt x="0" y="61405"/>
                  </a:lnTo>
                  <a:cubicBezTo>
                    <a:pt x="0" y="27492"/>
                    <a:pt x="27492" y="0"/>
                    <a:pt x="61405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263378" y="7316667"/>
            <a:ext cx="4286720" cy="1486389"/>
            <a:chOff x="0" y="0"/>
            <a:chExt cx="3305612" cy="11461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48763" y="0"/>
                  </a:moveTo>
                  <a:lnTo>
                    <a:pt x="3256850" y="0"/>
                  </a:lnTo>
                  <a:cubicBezTo>
                    <a:pt x="3283781" y="0"/>
                    <a:pt x="3305612" y="21832"/>
                    <a:pt x="3305612" y="48763"/>
                  </a:cubicBezTo>
                  <a:lnTo>
                    <a:pt x="3305612" y="1097435"/>
                  </a:lnTo>
                  <a:cubicBezTo>
                    <a:pt x="3305612" y="1124365"/>
                    <a:pt x="3283781" y="1146197"/>
                    <a:pt x="3256850" y="1146197"/>
                  </a:cubicBezTo>
                  <a:lnTo>
                    <a:pt x="48763" y="1146197"/>
                  </a:lnTo>
                  <a:cubicBezTo>
                    <a:pt x="21832" y="1146197"/>
                    <a:pt x="0" y="1124365"/>
                    <a:pt x="0" y="1097435"/>
                  </a:cubicBezTo>
                  <a:lnTo>
                    <a:pt x="0" y="48763"/>
                  </a:lnTo>
                  <a:cubicBezTo>
                    <a:pt x="0" y="21832"/>
                    <a:pt x="21832" y="0"/>
                    <a:pt x="48763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642652" y="7316667"/>
            <a:ext cx="4286720" cy="1486389"/>
            <a:chOff x="0" y="0"/>
            <a:chExt cx="3305612" cy="11461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05612" cy="1146197"/>
            </a:xfrm>
            <a:custGeom>
              <a:avLst/>
              <a:gdLst/>
              <a:ahLst/>
              <a:cxnLst/>
              <a:rect r="r" b="b" t="t" l="l"/>
              <a:pathLst>
                <a:path h="1146197" w="3305612">
                  <a:moveTo>
                    <a:pt x="48763" y="0"/>
                  </a:moveTo>
                  <a:lnTo>
                    <a:pt x="3256850" y="0"/>
                  </a:lnTo>
                  <a:cubicBezTo>
                    <a:pt x="3283781" y="0"/>
                    <a:pt x="3305612" y="21832"/>
                    <a:pt x="3305612" y="48763"/>
                  </a:cubicBezTo>
                  <a:lnTo>
                    <a:pt x="3305612" y="1097435"/>
                  </a:lnTo>
                  <a:cubicBezTo>
                    <a:pt x="3305612" y="1124365"/>
                    <a:pt x="3283781" y="1146197"/>
                    <a:pt x="3256850" y="1146197"/>
                  </a:cubicBezTo>
                  <a:lnTo>
                    <a:pt x="48763" y="1146197"/>
                  </a:lnTo>
                  <a:cubicBezTo>
                    <a:pt x="21832" y="1146197"/>
                    <a:pt x="0" y="1124365"/>
                    <a:pt x="0" y="1097435"/>
                  </a:cubicBezTo>
                  <a:lnTo>
                    <a:pt x="0" y="48763"/>
                  </a:lnTo>
                  <a:cubicBezTo>
                    <a:pt x="0" y="21832"/>
                    <a:pt x="21832" y="0"/>
                    <a:pt x="48763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3305612" cy="1193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554146" y="7540641"/>
            <a:ext cx="37051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Late Testing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933421" y="7540641"/>
            <a:ext cx="37051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Continuous Testing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554146" y="7917412"/>
            <a:ext cx="3705183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Conduct quality assurance only after complete development finishes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933421" y="7917412"/>
            <a:ext cx="3705183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Integrate quality checks in all development phases for reliability.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0025164" y="5374193"/>
            <a:ext cx="762000" cy="698183"/>
          </a:xfrm>
          <a:custGeom>
            <a:avLst/>
            <a:gdLst/>
            <a:ahLst/>
            <a:cxnLst/>
            <a:rect r="r" b="b" t="t" l="l"/>
            <a:pathLst>
              <a:path h="698183" w="762000">
                <a:moveTo>
                  <a:pt x="0" y="0"/>
                </a:moveTo>
                <a:lnTo>
                  <a:pt x="762000" y="0"/>
                </a:lnTo>
                <a:lnTo>
                  <a:pt x="762000" y="698183"/>
                </a:lnTo>
                <a:lnTo>
                  <a:pt x="0" y="69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7487048" y="5340140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880843" y="541458"/>
            <a:ext cx="15769326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b="true" sz="7900">
                <a:solidFill>
                  <a:srgbClr val="172B36"/>
                </a:solidFill>
                <a:latin typeface="TT Hoves Bold"/>
                <a:ea typeface="TT Hoves Bold"/>
                <a:cs typeface="TT Hoves Bold"/>
                <a:sym typeface="TT Hoves Bold"/>
              </a:rPr>
              <a:t>Waterfall Vs Agile Methodology Comparison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5345145" y="9006339"/>
            <a:ext cx="1714566" cy="769996"/>
          </a:xfrm>
          <a:custGeom>
            <a:avLst/>
            <a:gdLst/>
            <a:ahLst/>
            <a:cxnLst/>
            <a:rect r="r" b="b" t="t" l="l"/>
            <a:pathLst>
              <a:path h="769996" w="1714566">
                <a:moveTo>
                  <a:pt x="0" y="0"/>
                </a:moveTo>
                <a:lnTo>
                  <a:pt x="1714566" y="0"/>
                </a:lnTo>
                <a:lnTo>
                  <a:pt x="1714566" y="769996"/>
                </a:lnTo>
                <a:lnTo>
                  <a:pt x="0" y="7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8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781767" y="408422"/>
            <a:ext cx="1714566" cy="769996"/>
          </a:xfrm>
          <a:custGeom>
            <a:avLst/>
            <a:gdLst/>
            <a:ahLst/>
            <a:cxnLst/>
            <a:rect r="r" b="b" t="t" l="l"/>
            <a:pathLst>
              <a:path h="769996" w="1714566">
                <a:moveTo>
                  <a:pt x="1714566" y="0"/>
                </a:moveTo>
                <a:lnTo>
                  <a:pt x="0" y="0"/>
                </a:lnTo>
                <a:lnTo>
                  <a:pt x="0" y="769996"/>
                </a:lnTo>
                <a:lnTo>
                  <a:pt x="1714566" y="769996"/>
                </a:lnTo>
                <a:lnTo>
                  <a:pt x="17145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489935" y="3386250"/>
            <a:ext cx="3149554" cy="3604640"/>
          </a:xfrm>
          <a:custGeom>
            <a:avLst/>
            <a:gdLst/>
            <a:ahLst/>
            <a:cxnLst/>
            <a:rect r="r" b="b" t="t" l="l"/>
            <a:pathLst>
              <a:path h="3604640" w="3149554">
                <a:moveTo>
                  <a:pt x="0" y="0"/>
                </a:moveTo>
                <a:lnTo>
                  <a:pt x="3149553" y="0"/>
                </a:lnTo>
                <a:lnTo>
                  <a:pt x="3149553" y="3604640"/>
                </a:lnTo>
                <a:lnTo>
                  <a:pt x="0" y="3604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192481" y="6566649"/>
            <a:ext cx="2065918" cy="4718482"/>
            <a:chOff x="0" y="0"/>
            <a:chExt cx="544110" cy="12427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4110" cy="1242728"/>
            </a:xfrm>
            <a:custGeom>
              <a:avLst/>
              <a:gdLst/>
              <a:ahLst/>
              <a:cxnLst/>
              <a:rect r="r" b="b" t="t" l="l"/>
              <a:pathLst>
                <a:path h="1242728" w="544110">
                  <a:moveTo>
                    <a:pt x="0" y="0"/>
                  </a:moveTo>
                  <a:lnTo>
                    <a:pt x="544110" y="0"/>
                  </a:lnTo>
                  <a:lnTo>
                    <a:pt x="544110" y="1242728"/>
                  </a:lnTo>
                  <a:lnTo>
                    <a:pt x="0" y="1242728"/>
                  </a:ln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4110" cy="124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933950" y="3387709"/>
            <a:ext cx="5866162" cy="5589963"/>
          </a:xfrm>
          <a:custGeom>
            <a:avLst/>
            <a:gdLst/>
            <a:ahLst/>
            <a:cxnLst/>
            <a:rect r="r" b="b" t="t" l="l"/>
            <a:pathLst>
              <a:path h="5589963" w="5866162">
                <a:moveTo>
                  <a:pt x="0" y="0"/>
                </a:moveTo>
                <a:lnTo>
                  <a:pt x="5866162" y="0"/>
                </a:lnTo>
                <a:lnTo>
                  <a:pt x="5866162" y="5589963"/>
                </a:lnTo>
                <a:lnTo>
                  <a:pt x="0" y="5589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36942" y="802945"/>
            <a:ext cx="11612963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80"/>
              </a:lnSpc>
            </a:pPr>
            <a:r>
              <a:rPr lang="en-US" b="true" sz="7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Why the Agile Method is the Best Choice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767" y="2708918"/>
            <a:ext cx="4781802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Enables faster delivery of value. Instead of waiting until the end of a long development cycle, the team can work on features in short iterations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767" y="5639765"/>
            <a:ext cx="515517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Allows the team to adapt quickly to change due to the short iterations and continuous feedback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767" y="2003095"/>
            <a:ext cx="23909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2D676D"/>
                </a:solidFill>
                <a:latin typeface="TT Hoves Bold"/>
                <a:ea typeface="TT Hoves Bold"/>
                <a:cs typeface="TT Hoves Bold"/>
                <a:sym typeface="TT Hoves Bold"/>
              </a:rPr>
              <a:t>01. Efficient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767" y="4998722"/>
            <a:ext cx="31784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2D676D"/>
                </a:solidFill>
                <a:latin typeface="TT Hoves Bold"/>
                <a:ea typeface="TT Hoves Bold"/>
                <a:cs typeface="TT Hoves Bold"/>
                <a:sym typeface="TT Hoves Bold"/>
              </a:rPr>
              <a:t>02. Adaptation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767" y="7201865"/>
            <a:ext cx="328239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2D676D"/>
                </a:solidFill>
                <a:latin typeface="TT Hoves Bold"/>
                <a:ea typeface="TT Hoves Bold"/>
                <a:cs typeface="TT Hoves Bold"/>
                <a:sym typeface="TT Hoves Bold"/>
              </a:rPr>
              <a:t>03. Reduce Risk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1767" y="7840040"/>
            <a:ext cx="5155175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Smaller increments and iterations means that the team can find issues faster. This leads to more realiable products and reduces the risk of high cost if problems arise later.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3787065" y="4634147"/>
            <a:ext cx="3149554" cy="3604640"/>
          </a:xfrm>
          <a:custGeom>
            <a:avLst/>
            <a:gdLst/>
            <a:ahLst/>
            <a:cxnLst/>
            <a:rect r="r" b="b" t="t" l="l"/>
            <a:pathLst>
              <a:path h="3604640" w="3149554">
                <a:moveTo>
                  <a:pt x="0" y="0"/>
                </a:moveTo>
                <a:lnTo>
                  <a:pt x="3149554" y="0"/>
                </a:lnTo>
                <a:lnTo>
                  <a:pt x="3149554" y="3604640"/>
                </a:lnTo>
                <a:lnTo>
                  <a:pt x="0" y="3604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361842" y="8498980"/>
            <a:ext cx="1423265" cy="639175"/>
          </a:xfrm>
          <a:custGeom>
            <a:avLst/>
            <a:gdLst/>
            <a:ahLst/>
            <a:cxnLst/>
            <a:rect r="r" b="b" t="t" l="l"/>
            <a:pathLst>
              <a:path h="639175" w="1423265">
                <a:moveTo>
                  <a:pt x="1423264" y="0"/>
                </a:moveTo>
                <a:lnTo>
                  <a:pt x="0" y="0"/>
                </a:lnTo>
                <a:lnTo>
                  <a:pt x="0" y="639175"/>
                </a:lnTo>
                <a:lnTo>
                  <a:pt x="1423264" y="639175"/>
                </a:lnTo>
                <a:lnTo>
                  <a:pt x="142326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1028700"/>
            <a:ext cx="1750484" cy="2946863"/>
            <a:chOff x="0" y="0"/>
            <a:chExt cx="461033" cy="776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1033" cy="776129"/>
            </a:xfrm>
            <a:custGeom>
              <a:avLst/>
              <a:gdLst/>
              <a:ahLst/>
              <a:cxnLst/>
              <a:rect r="r" b="b" t="t" l="l"/>
              <a:pathLst>
                <a:path h="776129" w="461033">
                  <a:moveTo>
                    <a:pt x="0" y="0"/>
                  </a:moveTo>
                  <a:lnTo>
                    <a:pt x="461033" y="0"/>
                  </a:lnTo>
                  <a:lnTo>
                    <a:pt x="461033" y="776129"/>
                  </a:lnTo>
                  <a:lnTo>
                    <a:pt x="0" y="776129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61033" cy="776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019242" y="1791143"/>
            <a:ext cx="5625872" cy="6330095"/>
          </a:xfrm>
          <a:custGeom>
            <a:avLst/>
            <a:gdLst/>
            <a:ahLst/>
            <a:cxnLst/>
            <a:rect r="r" b="b" t="t" l="l"/>
            <a:pathLst>
              <a:path h="6330095" w="5625872">
                <a:moveTo>
                  <a:pt x="0" y="0"/>
                </a:moveTo>
                <a:lnTo>
                  <a:pt x="5625871" y="0"/>
                </a:lnTo>
                <a:lnTo>
                  <a:pt x="5625871" y="6330095"/>
                </a:lnTo>
                <a:lnTo>
                  <a:pt x="0" y="6330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2894" y="4594730"/>
            <a:ext cx="9931098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 for your attention!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2894" y="1158370"/>
            <a:ext cx="533731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 Flexible Approach to Software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639255" y="1191320"/>
            <a:ext cx="3149554" cy="3604640"/>
          </a:xfrm>
          <a:custGeom>
            <a:avLst/>
            <a:gdLst/>
            <a:ahLst/>
            <a:cxnLst/>
            <a:rect r="r" b="b" t="t" l="l"/>
            <a:pathLst>
              <a:path h="3604640" w="3149554">
                <a:moveTo>
                  <a:pt x="0" y="0"/>
                </a:moveTo>
                <a:lnTo>
                  <a:pt x="3149554" y="0"/>
                </a:lnTo>
                <a:lnTo>
                  <a:pt x="3149554" y="3604639"/>
                </a:lnTo>
                <a:lnTo>
                  <a:pt x="0" y="360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8700" y="8402048"/>
            <a:ext cx="1423265" cy="639175"/>
          </a:xfrm>
          <a:custGeom>
            <a:avLst/>
            <a:gdLst/>
            <a:ahLst/>
            <a:cxnLst/>
            <a:rect r="r" b="b" t="t" l="l"/>
            <a:pathLst>
              <a:path h="639175" w="1423265">
                <a:moveTo>
                  <a:pt x="1423265" y="0"/>
                </a:moveTo>
                <a:lnTo>
                  <a:pt x="0" y="0"/>
                </a:lnTo>
                <a:lnTo>
                  <a:pt x="0" y="639175"/>
                </a:lnTo>
                <a:lnTo>
                  <a:pt x="1423265" y="639175"/>
                </a:lnTo>
                <a:lnTo>
                  <a:pt x="142326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67755" y="5774773"/>
            <a:ext cx="1750484" cy="2946863"/>
            <a:chOff x="0" y="0"/>
            <a:chExt cx="461033" cy="776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1033" cy="776129"/>
            </a:xfrm>
            <a:custGeom>
              <a:avLst/>
              <a:gdLst/>
              <a:ahLst/>
              <a:cxnLst/>
              <a:rect r="r" b="b" t="t" l="l"/>
              <a:pathLst>
                <a:path h="776129" w="461033">
                  <a:moveTo>
                    <a:pt x="0" y="0"/>
                  </a:moveTo>
                  <a:lnTo>
                    <a:pt x="461033" y="0"/>
                  </a:lnTo>
                  <a:lnTo>
                    <a:pt x="461033" y="776129"/>
                  </a:lnTo>
                  <a:lnTo>
                    <a:pt x="0" y="776129"/>
                  </a:ln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61033" cy="776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097851" y="2024875"/>
            <a:ext cx="4923341" cy="5322531"/>
          </a:xfrm>
          <a:custGeom>
            <a:avLst/>
            <a:gdLst/>
            <a:ahLst/>
            <a:cxnLst/>
            <a:rect r="r" b="b" t="t" l="l"/>
            <a:pathLst>
              <a:path h="5322531" w="4923341">
                <a:moveTo>
                  <a:pt x="0" y="0"/>
                </a:moveTo>
                <a:lnTo>
                  <a:pt x="4923342" y="0"/>
                </a:lnTo>
                <a:lnTo>
                  <a:pt x="4923342" y="5322532"/>
                </a:lnTo>
                <a:lnTo>
                  <a:pt x="0" y="532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33257"/>
            <a:ext cx="269414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4624" u="sng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Sources: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10823"/>
            <a:ext cx="9306177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62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Schwarber, K., &amp; Sutherland, J. (2020). The 2020 scrum GUIDE.               Scrum Guide | Scrum Guides. https://scrumguides.org/scrum-guide.html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62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Sutherland, J., &amp; Schwaber, K. (2001). Manifesto for Agile Software Development. https://agilemanifesto.org/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62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Charles G. Cobb. (2015). The Project Manager’s Guide to Mastering Agile : Principles and Practices for an Adaptive Approach. Wiley.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DAHHOOXVAgk</dc:identifier>
  <dcterms:modified xsi:type="dcterms:W3CDTF">2011-08-01T06:04:30Z</dcterms:modified>
  <cp:revision>1</cp:revision>
  <dc:title>Final Project - ROUSSEL</dc:title>
</cp:coreProperties>
</file>